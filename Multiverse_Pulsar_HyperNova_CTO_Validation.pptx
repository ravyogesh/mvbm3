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9e1a875254a28" /><Relationship Type="http://schemas.openxmlformats.org/officeDocument/2006/relationships/extended-properties" Target="/docProps/app.xml" Id="R0f99f313343347cf" /><Relationship Type="http://schemas.openxmlformats.org/officeDocument/2006/relationships/officeDocument" Target="/ppt/presentation.xml" Id="R997e41233bbb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c521293a524314"/>
  </p:sldMasterIdLst>
  <p:notesMasterIdLst>
    <p:notesMasterId xmlns:r="http://schemas.openxmlformats.org/officeDocument/2006/relationships" r:id="R68379820623f44a0"/>
  </p:notesMasterIdLst>
  <p:sldIdLst>
    <p:sldId xmlns:r="http://schemas.openxmlformats.org/officeDocument/2006/relationships" id="256" r:id="R88a096c3641e49fa"/>
    <p:sldId xmlns:r="http://schemas.openxmlformats.org/officeDocument/2006/relationships" id="257" r:id="Re86cc8d04ce64ad0"/>
    <p:sldId xmlns:r="http://schemas.openxmlformats.org/officeDocument/2006/relationships" id="258" r:id="R03b36663f56f44c8"/>
    <p:sldId xmlns:r="http://schemas.openxmlformats.org/officeDocument/2006/relationships" id="259" r:id="R0b6e175cd3d044d2"/>
    <p:sldId xmlns:r="http://schemas.openxmlformats.org/officeDocument/2006/relationships" id="260" r:id="Rb802cb863aa74784"/>
    <p:sldId xmlns:r="http://schemas.openxmlformats.org/officeDocument/2006/relationships" id="261" r:id="R48bfd35d32f2486a"/>
    <p:sldId xmlns:r="http://schemas.openxmlformats.org/officeDocument/2006/relationships" id="262" r:id="R7134ca0ddd424456"/>
    <p:sldId xmlns:r="http://schemas.openxmlformats.org/officeDocument/2006/relationships" id="263" r:id="Rd17d29ef394a4e81"/>
    <p:sldId xmlns:r="http://schemas.openxmlformats.org/officeDocument/2006/relationships" id="264" r:id="R1819f57d77d84fea"/>
    <p:sldId xmlns:r="http://schemas.openxmlformats.org/officeDocument/2006/relationships" id="265" r:id="R646f7be80c6b4c51"/>
    <p:sldId xmlns:r="http://schemas.openxmlformats.org/officeDocument/2006/relationships" id="266" r:id="Ra797b16f6cae4294"/>
    <p:sldId xmlns:r="http://schemas.openxmlformats.org/officeDocument/2006/relationships" id="267" r:id="Rf94571111f704b74"/>
    <p:sldId xmlns:r="http://schemas.openxmlformats.org/officeDocument/2006/relationships" id="268" r:id="R68af187e03bc4089"/>
    <p:sldId xmlns:r="http://schemas.openxmlformats.org/officeDocument/2006/relationships" id="269" r:id="Re6e83da8398849ac"/>
    <p:sldId xmlns:r="http://schemas.openxmlformats.org/officeDocument/2006/relationships" id="270" r:id="R987c8eb9496b4eec"/>
    <p:sldId xmlns:r="http://schemas.openxmlformats.org/officeDocument/2006/relationships" id="271" r:id="R114bd6b31aa8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d62cb393c9446c" /><Relationship Type="http://schemas.openxmlformats.org/officeDocument/2006/relationships/slideMaster" Target="/ppt/slideMasters/slideMaster1.xml" Id="R98c521293a524314" /><Relationship Type="http://schemas.openxmlformats.org/officeDocument/2006/relationships/notesMaster" Target="/ppt/notesMasters/notesMaster1.xml" Id="R68379820623f44a0" /><Relationship Type="http://schemas.openxmlformats.org/officeDocument/2006/relationships/presProps" Target="/ppt/presProps.xml" Id="Refeb34b7f71740b1" /><Relationship Type="http://schemas.openxmlformats.org/officeDocument/2006/relationships/tableStyles" Target="/ppt/tableStyles.xml" Id="Rf3deeb7b217d434b" /><Relationship Type="http://schemas.openxmlformats.org/officeDocument/2006/relationships/slide" Target="/ppt/slides/slide1.xml" Id="R88a096c3641e49fa" /><Relationship Type="http://schemas.openxmlformats.org/officeDocument/2006/relationships/slide" Target="/ppt/slides/slide2.xml" Id="Re86cc8d04ce64ad0" /><Relationship Type="http://schemas.openxmlformats.org/officeDocument/2006/relationships/slide" Target="/ppt/slides/slide3.xml" Id="R03b36663f56f44c8" /><Relationship Type="http://schemas.openxmlformats.org/officeDocument/2006/relationships/slide" Target="/ppt/slides/slide4.xml" Id="R0b6e175cd3d044d2" /><Relationship Type="http://schemas.openxmlformats.org/officeDocument/2006/relationships/slide" Target="/ppt/slides/slide5.xml" Id="Rb802cb863aa74784" /><Relationship Type="http://schemas.openxmlformats.org/officeDocument/2006/relationships/slide" Target="/ppt/slides/slide6.xml" Id="R48bfd35d32f2486a" /><Relationship Type="http://schemas.openxmlformats.org/officeDocument/2006/relationships/slide" Target="/ppt/slides/slide7.xml" Id="R7134ca0ddd424456" /><Relationship Type="http://schemas.openxmlformats.org/officeDocument/2006/relationships/slide" Target="/ppt/slides/slide8.xml" Id="Rd17d29ef394a4e81" /><Relationship Type="http://schemas.openxmlformats.org/officeDocument/2006/relationships/slide" Target="/ppt/slides/slide9.xml" Id="R1819f57d77d84fea" /><Relationship Type="http://schemas.openxmlformats.org/officeDocument/2006/relationships/slide" Target="/ppt/slides/slide10.xml" Id="R646f7be80c6b4c51" /><Relationship Type="http://schemas.openxmlformats.org/officeDocument/2006/relationships/slide" Target="/ppt/slides/slide11.xml" Id="Ra797b16f6cae4294" /><Relationship Type="http://schemas.openxmlformats.org/officeDocument/2006/relationships/slide" Target="/ppt/slides/slide12.xml" Id="Rf94571111f704b74" /><Relationship Type="http://schemas.openxmlformats.org/officeDocument/2006/relationships/slide" Target="/ppt/slides/slide13.xml" Id="R68af187e03bc4089" /><Relationship Type="http://schemas.openxmlformats.org/officeDocument/2006/relationships/slide" Target="/ppt/slides/slide14.xml" Id="Re6e83da8398849ac" /><Relationship Type="http://schemas.openxmlformats.org/officeDocument/2006/relationships/slide" Target="/ppt/slides/slide15.xml" Id="R987c8eb9496b4eec" /><Relationship Type="http://schemas.openxmlformats.org/officeDocument/2006/relationships/slide" Target="/ppt/slides/slide16.xml" Id="R114bd6b31aa8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a6e950306f44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e679f72a7145fd" /><Relationship Type="http://schemas.openxmlformats.org/officeDocument/2006/relationships/notesMaster" Target="/ppt/notesMasters/notesMaster1.xml" Id="Rc195bee13b194b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d2f3defdca46b7" /><Relationship Type="http://schemas.openxmlformats.org/officeDocument/2006/relationships/notesMaster" Target="/ppt/notesMasters/notesMaster1.xml" Id="R78010a475fd849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a7d0cc9d104c86" /><Relationship Type="http://schemas.openxmlformats.org/officeDocument/2006/relationships/notesMaster" Target="/ppt/notesMasters/notesMaster1.xml" Id="R2bf8fe4ac0584d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df8023d948473c" /><Relationship Type="http://schemas.openxmlformats.org/officeDocument/2006/relationships/notesMaster" Target="/ppt/notesMasters/notesMaster1.xml" Id="Ra84a1d537d02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6afcd447f44cd4" /><Relationship Type="http://schemas.openxmlformats.org/officeDocument/2006/relationships/notesMaster" Target="/ppt/notesMasters/notesMaster1.xml" Id="Ra18222cddfa0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d545719c5a4a30" /><Relationship Type="http://schemas.openxmlformats.org/officeDocument/2006/relationships/notesMaster" Target="/ppt/notesMasters/notesMaster1.xml" Id="Rd8f7d44cb8ae46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65334e3dca48dc" /><Relationship Type="http://schemas.openxmlformats.org/officeDocument/2006/relationships/notesMaster" Target="/ppt/notesMasters/notesMaster1.xml" Id="R6fa804295fb64d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4dd2ccbdd4f3c" /><Relationship Type="http://schemas.openxmlformats.org/officeDocument/2006/relationships/notesMaster" Target="/ppt/notesMasters/notesMaster1.xml" Id="Ra6a0434fa1884c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ba31ac39c74ac9" /><Relationship Type="http://schemas.openxmlformats.org/officeDocument/2006/relationships/notesMaster" Target="/ppt/notesMasters/notesMaster1.xml" Id="Rc717997795834b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77b43182814a83" /><Relationship Type="http://schemas.openxmlformats.org/officeDocument/2006/relationships/notesMaster" Target="/ppt/notesMasters/notesMaster1.xml" Id="R05996ae7b96045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fe6fed7c2f40f5" /><Relationship Type="http://schemas.openxmlformats.org/officeDocument/2006/relationships/notesMaster" Target="/ppt/notesMasters/notesMaster1.xml" Id="R314c78987e2345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f70ad9e2424875" /><Relationship Type="http://schemas.openxmlformats.org/officeDocument/2006/relationships/notesMaster" Target="/ppt/notesMasters/notesMaster1.xml" Id="Ra5aaeab284f24e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8cab1da90c47b5" /><Relationship Type="http://schemas.openxmlformats.org/officeDocument/2006/relationships/notesMaster" Target="/ppt/notesMasters/notesMaster1.xml" Id="Rb3e6b5885d7e4a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44038cbd0249e7" /><Relationship Type="http://schemas.openxmlformats.org/officeDocument/2006/relationships/notesMaster" Target="/ppt/notesMasters/notesMaster1.xml" Id="R46ad5e70bc8b40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1660579df041f3" /><Relationship Type="http://schemas.openxmlformats.org/officeDocument/2006/relationships/notesMaster" Target="/ppt/notesMasters/notesMaster1.xml" Id="R3704be279af446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4182821c464127" /><Relationship Type="http://schemas.openxmlformats.org/officeDocument/2006/relationships/notesMaster" Target="/ppt/notesMasters/notesMaster1.xml" Id="Rad5a6f8d015f43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benchmark design and synthetic dataset in the accompanying validation kit.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https://www.federalreserve.gov/frrs/guidance/supervisory-guidance-on-model-risk-management.htm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https://www.federalreserve.gov/frrs/guidance/supervisory-guidance-on-model-risk-management.htm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https://huggingface.co/MultiverseComputingCAI/Pulsar-16B-BF16</a:t>
            </a:r>
          </a:p>
          <a:p xmlns:a="http://schemas.openxmlformats.org/drawingml/2006/main">
            <a:r>
              <a:t>- https://multiversecomputing.com/resources/pulsar-16b-built-by-multiverse-computing-validated-by-nvidia</a:t>
            </a:r>
          </a:p>
          <a:p xmlns:a="http://schemas.openxmlformats.org/drawingml/2006/main">
            <a:r>
              <a:t>- https://huggingface.co/MultiverseComputingCAI/Hypernova-60B-2605</a:t>
            </a:r>
          </a:p>
          <a:p xmlns:a="http://schemas.openxmlformats.org/drawingml/2006/main">
            <a:r>
              <a:t>- https://artificialanalysis.ai/models/hypernova-60b/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https://huggingface.co/MultiverseComputingCAI/Pulsar-16B-BF16</a:t>
            </a:r>
          </a:p>
          <a:p xmlns:a="http://schemas.openxmlformats.org/drawingml/2006/main">
            <a:r>
              <a:t>- https://huggingface.co/MultiverseComputingCAI/Hypernova-60B-2605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Selected published benchmarks: Instruction=IFBench; Reasoning=GPQA-D; Live code=LiveCodeBench; Long context=AA-LCR; Scientific code=SciCode; Agent/terminal=Pulsar Tau2-Telecom and HyperNova Terminal-Bench Hard.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https://multiversecomputing.com/resources/pulsar-16b-built-by-multiverse-computing-validated-by-nvidia</a:t>
            </a:r>
          </a:p>
          <a:p xmlns:a="http://schemas.openxmlformats.org/drawingml/2006/main">
            <a:r>
              <a:t>- https://huggingface.co/MultiverseComputingCAI/Hypernova-60B-2605</a:t>
            </a:r>
          </a:p>
          <a:p xmlns:a="http://schemas.openxmlformats.org/drawingml/2006/main">
            <a:r>
              <a:t>- https://artificialanalysis.ai/models/hypernova-60b/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benchmark design and synthetic dataset in the accompanying validation kit.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https://huggingface.co/MultiverseComputingCAI/Pulsar-16B-BF16</a:t>
            </a:r>
          </a:p>
          <a:p xmlns:a="http://schemas.openxmlformats.org/drawingml/2006/main">
            <a:r>
              <a:t>- https://huggingface.co/MultiverseComputingCAI/Hypernova-60B-2605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https://developers.openai.com/api/reference/resources/evals/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benchmark design and synthetic dataset in the accompanying validation kit.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https://www.federalreserve.gov/frrs/guidance/supervisory-guidance-on-model-risk-management.htm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https://nvlpubs.nist.gov/nistpubs/ai/NIST.AI.600-1.pdf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benchmark design and synthetic dataset in the accompanying validation kit.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https://huggingface.co/MultiverseComputingCAI/Pulsar-16B-BF16</a:t>
            </a:r>
          </a:p>
          <a:p xmlns:a="http://schemas.openxmlformats.org/drawingml/2006/main">
            <a:r>
              <a:t>- https://huggingface.co/MultiverseComputingCAI/Hypernova-60B-2605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benchmark design and synthetic dataset in the accompanying validation kit.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9b0363f8040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e31fac25a47a3" /><Relationship Type="http://schemas.openxmlformats.org/officeDocument/2006/relationships/slideLayout" Target="/ppt/slideLayouts/slideLayout1.xml" Id="R84cdca86034841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cdca860348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648f359b24c71" /><Relationship Type="http://schemas.openxmlformats.org/officeDocument/2006/relationships/notesSlide" Target="/ppt/notesSlides/notesSlide1.xml" Id="R2f2d10f58124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17171f6734903" /><Relationship Type="http://schemas.openxmlformats.org/officeDocument/2006/relationships/notesSlide" Target="/ppt/notesSlides/notesSlide2.xml" Id="R523fdd76224e41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4730114314466" /><Relationship Type="http://schemas.openxmlformats.org/officeDocument/2006/relationships/notesSlide" Target="/ppt/notesSlides/notesSlide3.xml" Id="Ree1c2f8b772a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565a405d4aef" /><Relationship Type="http://schemas.openxmlformats.org/officeDocument/2006/relationships/notesSlide" Target="/ppt/notesSlides/notesSlide4.xml" Id="Re5d35bf0cf0f4e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cca884a2646ec" /><Relationship Type="http://schemas.openxmlformats.org/officeDocument/2006/relationships/chart" Target="/ppt/slides/charts/chart1.xml" Id="Rda3d44408819483e" /><Relationship Type="http://schemas.openxmlformats.org/officeDocument/2006/relationships/notesSlide" Target="/ppt/notesSlides/notesSlide5.xml" Id="Re3ce4d66cc35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e7417644d4d1a" /><Relationship Type="http://schemas.openxmlformats.org/officeDocument/2006/relationships/notesSlide" Target="/ppt/notesSlides/notesSlide6.xml" Id="R04418e224a234c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1782a1def4434" /><Relationship Type="http://schemas.openxmlformats.org/officeDocument/2006/relationships/notesSlide" Target="/ppt/notesSlides/notesSlide7.xml" Id="Ra00fb5e6a0da4e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3c8475b214a14" /><Relationship Type="http://schemas.openxmlformats.org/officeDocument/2006/relationships/notesSlide" Target="/ppt/notesSlides/notesSlide8.xml" Id="R34ae2a56fc3748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8c6a13c424006" /><Relationship Type="http://schemas.openxmlformats.org/officeDocument/2006/relationships/notesSlide" Target="/ppt/notesSlides/notesSlide9.xml" Id="R76cab6fa044c4a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6b9e9fadd4d02" /><Relationship Type="http://schemas.openxmlformats.org/officeDocument/2006/relationships/notesSlide" Target="/ppt/notesSlides/notesSlide10.xml" Id="R9a23d996c3bf4c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b3f78b13144ea" /><Relationship Type="http://schemas.openxmlformats.org/officeDocument/2006/relationships/notesSlide" Target="/ppt/notesSlides/notesSlide11.xml" Id="R9d4015d5c9ee4b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3ec7138664cf9" /><Relationship Type="http://schemas.openxmlformats.org/officeDocument/2006/relationships/notesSlide" Target="/ppt/notesSlides/notesSlide12.xml" Id="Rfcdb836822ce47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3f8da99d0497b" /><Relationship Type="http://schemas.openxmlformats.org/officeDocument/2006/relationships/notesSlide" Target="/ppt/notesSlides/notesSlide13.xml" Id="R7c13af24c24c49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2b25f7e3140be" /><Relationship Type="http://schemas.openxmlformats.org/officeDocument/2006/relationships/notesSlide" Target="/ppt/notesSlides/notesSlide14.xml" Id="R29acf2042b6e41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ff17af2534ef2" /><Relationship Type="http://schemas.openxmlformats.org/officeDocument/2006/relationships/notesSlide" Target="/ppt/notesSlides/notesSlide15.xml" Id="R67569a917fbc46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c414dc17e472c" /><Relationship Type="http://schemas.openxmlformats.org/officeDocument/2006/relationships/notesSlide" Target="/ppt/notesSlides/notesSlide16.xml" Id="R030cf1d8479e45f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Pulsar / Nemotron</c:v>
          </c:tx>
          <c:spPr>
            <a:solidFill xmlns:a="http://schemas.openxmlformats.org/drawingml/2006/main">
              <a:srgbClr val="D71920"/>
            </a:solidFill>
          </c:spPr>
          <c:cat>
            <c:strLit>
              <c:ptCount val="6"/>
              <c:pt idx="0">
                <c:v>Instruction</c:v>
              </c:pt>
              <c:pt idx="1">
                <c:v>Reasoning</c:v>
              </c:pt>
              <c:pt idx="2">
                <c:v>Live code</c:v>
              </c:pt>
              <c:pt idx="3">
                <c:v>Long context</c:v>
              </c:pt>
              <c:pt idx="4">
                <c:v>Scientific code</c:v>
              </c:pt>
              <c:pt idx="5">
                <c:v>Agent / terminal</c:v>
              </c:pt>
            </c:strLit>
          </c:cat>
          <c:val>
            <c:numLit>
              <c:formatCode>General</c:formatCode>
              <c:ptCount val="6"/>
              <c:pt idx="0">
                <c:v>98.4</c:v>
              </c:pt>
              <c:pt idx="1">
                <c:v>99.2</c:v>
              </c:pt>
              <c:pt idx="2">
                <c:v>97.1</c:v>
              </c:pt>
              <c:pt idx="3">
                <c:v>86.3</c:v>
              </c:pt>
              <c:pt idx="4">
                <c:v>80.6</c:v>
              </c:pt>
              <c:pt idx="5">
                <c:v>76.4</c:v>
              </c:pt>
            </c:numLit>
          </c:val>
        </c:ser>
        <c:ser>
          <c:idx val="1"/>
          <c:order val="1"/>
          <c:tx>
            <c:v>HyperNova / gpt-oss</c:v>
          </c:tx>
          <c:spPr>
            <a:solidFill xmlns:a="http://schemas.openxmlformats.org/drawingml/2006/main">
              <a:srgbClr val="F6C344"/>
            </a:solidFill>
          </c:spPr>
          <c:cat>
            <c:strLit>
              <c:ptCount val="6"/>
              <c:pt idx="0">
                <c:v>Instruction</c:v>
              </c:pt>
              <c:pt idx="1">
                <c:v>Reasoning</c:v>
              </c:pt>
              <c:pt idx="2">
                <c:v>Live code</c:v>
              </c:pt>
              <c:pt idx="3">
                <c:v>Long context</c:v>
              </c:pt>
              <c:pt idx="4">
                <c:v>Scientific code</c:v>
              </c:pt>
              <c:pt idx="5">
                <c:v>Agent / terminal</c:v>
              </c:pt>
            </c:strLit>
          </c:cat>
          <c:val>
            <c:numLit>
              <c:formatCode>General</c:formatCode>
              <c:ptCount val="6"/>
              <c:pt idx="0">
                <c:v>99.4</c:v>
              </c:pt>
              <c:pt idx="1">
                <c:v>96.4</c:v>
              </c:pt>
              <c:pt idx="2">
                <c:v>109.4</c:v>
              </c:pt>
              <c:pt idx="3">
                <c:v>82.2</c:v>
              </c:pt>
              <c:pt idx="4">
                <c:v>86.7</c:v>
              </c:pt>
              <c:pt idx="5">
                <c:v>65.7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021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5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46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1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124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8F3"/>
        </a:solidFill>
        <a:ln xmlns:a="http://schemas.openxmlformats.org/drawingml/2006/main" w="0">
          <a:solidFill>
            <a:srgbClr val="FAF8F3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0646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AF8F3"/>
    </a:solidFill>
    <a:ln xmlns:a="http://schemas.openxmlformats.org/drawingml/2006/main" w="0">
      <a:solidFill>
        <a:srgbClr val="FAF8F3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719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2728C-DB0B-4A17-8417-D36DB90F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4B638-C5F3-4B25-BF5A-1618776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WELLS FARGO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54C03-6D2D-4E77-B351-5E26FF1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344"/>
                </a:solidFill>
              </a:defRPr>
            </a:pPr>
            <a:r>
              <a:rPr sz="1500" b="1">
                <a:solidFill>
                  <a:srgbClr val="F6C344"/>
                </a:solidFill>
              </a:rPr>
              <a:t>PULSAR + HYPERNOVA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CCC67-D39B-4BD9-8AD1-9A84C66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971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Validate the efficiency.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Prove the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B4A03-B9B5-4E98-A83E-10737579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 bank-grade benchmark and multi-agent evaluation control tower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D636B-F123-4A09-BE84-F7B619EF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BBEA6-CBA5-4B62-8932-C9612A50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CTO DECISION REVIEW  •  13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48ED2-330D-452E-A68F-E1A19A22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C8CB"/>
                </a:solidFill>
              </a:defRPr>
            </a:pPr>
            <a:r>
              <a:rPr sz="900" b="0">
                <a:solidFill>
                  <a:srgbClr val="F7C8CB"/>
                </a:solidFill>
              </a:rPr>
              <a:t>Draft in bank-brand styling; transfer to the official corporate master before circulation.</a:t>
            </a:r>
          </a:p>
        </p:txBody>
      </p:sp>
    </p:spTree>
    <p:extLst>
      <p:ext uri="{BB962C8B-B14F-4D97-AF65-F5344CB8AC3E}">
        <p14:creationId xmlns:p14="http://schemas.microsoft.com/office/powerpoint/2010/main" val="1832273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9C84D-FA0B-4B36-A94F-6A94700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FA2A3ED-2F37-4FE4-BC03-91CE8344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1DA9D67E-DEDA-4E2E-9472-74B6F9C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3EC2CF-29C1-4FA3-9B80-E088204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Proceed to a controlled POC — not production 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9F7A4-DA47-4DA0-B647-45EA6CAB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87DC9-4496-4030-9D75-F7610DED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8FCBB-C013-4482-9624-DF5D2A64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9FD8B-3A91-48FD-B556-8DD59637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963A1-7A02-4FEC-947D-6E150032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429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71920"/>
                </a:solidFill>
              </a:defRPr>
            </a:pPr>
            <a:r>
              <a:rPr sz="4050" b="1">
                <a:solidFill>
                  <a:srgbClr val="D71920"/>
                </a:solidFill>
              </a:rPr>
              <a:t>CONDITIONAL</a:t>
            </a:r>
          </a:p>
          <a:p xmlns:a="http://schemas.openxmlformats.org/drawingml/2006/main">
            <a:pPr algn="l">
              <a:defRPr sz="4050" b="1">
                <a:solidFill>
                  <a:srgbClr val="D71920"/>
                </a:solidFill>
              </a:defRPr>
            </a:pPr>
            <a:r>
              <a:rPr sz="4050" b="1">
                <a:solidFill>
                  <a:srgbClr val="D71920"/>
                </a:solidFill>
              </a:rPr>
              <a:t>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47AF5-6A87-4546-8F7E-4D1F7A8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The public evidence supports an efficiency hypothesis. It does not prove uniform quality preservation for bank workloads.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D32B7-8D67-48A1-8092-21103E1E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19250"/>
            <a:ext cx="57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EC1E6-DDCE-4E0F-9ED4-826D3557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99A27-09D2-4611-9EAE-ED3E485B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05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ECB71-C488-4CFB-880E-45CA079F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8602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synthetic bank cases in the starter suite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00D2A-6F1D-4461-B8C9-D72D318B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5CCF1-B968-474A-823A-0E4D34C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85850-E29F-4C88-8EDF-6476A611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task families, each gated separately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6B338-C2A4-4D6D-906E-90B19C1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16D72-2951-4CE9-B5CF-8012EC3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CF050-C8B6-42FE-B323-55F3064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433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required on critical privacy and injection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91711-0A54-4492-AFD8-BF529A7E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7E813-F3BC-40DF-A746-03631230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97%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03380-345E-411F-8BE8-F4B811F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minimum aggregate quality retention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1CE98-FFDB-4D34-A181-A62EAB5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9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CTO decision requested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B9DF8-E831-491D-A648-F6D880C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Approve a time-boxed, matched-hardware validation with independent Model Risk ownership of the holdout set.</a:t>
            </a:r>
          </a:p>
        </p:txBody>
      </p:sp>
    </p:spTree>
    <p:extLst>
      <p:ext uri="{BB962C8B-B14F-4D97-AF65-F5344CB8AC3E}">
        <p14:creationId xmlns:p14="http://schemas.microsoft.com/office/powerpoint/2010/main" val="579598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4FAD0-E05F-4815-ADD5-E2628844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483D6A1-C2A9-4492-BE5D-726C915B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BEEE8661-90BB-49AD-ABF4-8D645DAC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AAF0A9-6C73-475B-B155-707D66C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Four evidence layers prevent vendor claims from becoming bank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0680E-1BAD-496F-9D43-CF4E3E4C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EF6B4-7221-4562-874C-9E967F3A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23B91-F921-42EC-A670-E1FD2B90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28CB0-188A-4548-8CC1-D035FC49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C4F1F-959E-4687-8EF6-7BA18B57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74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9EA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CF792-5243-4CA7-89CE-38678B7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</a:defRPr>
            </a:pPr>
            <a:r>
              <a:rPr sz="2400" b="1">
                <a:solidFill>
                  <a:srgbClr val="D71920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774F1-F7B1-4B63-A994-A208EE6D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PUBLISHED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E40E1-C580-4D87-987F-35C02699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Vendor page or model 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DF560-EC69-43C6-AD5A-2F594D5A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Useful for hypotheses — never sufficient for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E6171-D867-4193-A367-A160AC9E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74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DE669-F4D1-4FB7-8718-82F0A478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</a:defRPr>
            </a:pPr>
            <a:r>
              <a:rPr sz="2400" b="1">
                <a:solidFill>
                  <a:srgbClr val="D71920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D4539-C9F7-467C-8AAF-5141F05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THIRD-PARTY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D09D2-0A26-4CBC-ABDD-CAF14F6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Independent benchmark operator / reproduced suite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E27D6-928E-4302-A5AB-42D3C1F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Check version, provider, methodology and raw 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C3ABB-155C-4F48-80D0-28ADA093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74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00773-228A-4F44-9BB7-891C63B1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</a:defRPr>
            </a:pPr>
            <a:r>
              <a:rPr sz="2400" b="1">
                <a:solidFill>
                  <a:srgbClr val="D71920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D0475-091D-42D0-871C-BAB10E61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BANK REPRODUCTION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E4AA7-EE6D-486B-9525-C544534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Matched hardware + paired baseline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9ABE4-E41E-40E1-977E-E398CA5F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Primary evidence for efficiency and quality retention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5393D-5B2B-442C-9669-3B4C5B25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4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D9999-4314-4175-8C84-3EF55D2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387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</a:defRPr>
            </a:pPr>
            <a:r>
              <a:rPr sz="2400" b="1">
                <a:solidFill>
                  <a:srgbClr val="D71920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0E4ED-01E2-47D8-8E78-A2034097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OUTCOME 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2C83B-47A8-4BE7-B16A-917CFF46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Shadow pilot + production telemetry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FE882-2242-459F-BAA6-B574DD5E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01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Confirms fitness over time and detects drift</a:t>
            </a:r>
          </a:p>
        </p:txBody>
      </p:sp>
    </p:spTree>
    <p:extLst>
      <p:ext uri="{BB962C8B-B14F-4D97-AF65-F5344CB8AC3E}">
        <p14:creationId xmlns:p14="http://schemas.microsoft.com/office/powerpoint/2010/main" val="1288668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B3DFE-0557-4AE9-8F14-0A773B5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5C3C561-525F-44FA-B708-82707BC9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D78FD679-3B38-4DCF-9118-8F10D9FC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8CA9DD-5609-47F6-805C-1234A8D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The public record is detailed enough to test — not enough to approve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66E8D-7767-4DCD-B4DD-D52B36B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F9B10-6B3A-4D86-A260-7BD65C04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BF7B9-6431-4692-8117-94CB5B85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1CBAF-50CF-44CB-9D50-8AB30FB1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EDFB6-7ADB-4B2E-AACD-C9199AFA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1920"/>
                </a:solidFill>
              </a:defRPr>
            </a:pPr>
            <a:r>
              <a:rPr sz="1875" b="1">
                <a:solidFill>
                  <a:srgbClr val="D71920"/>
                </a:solidFill>
              </a:rPr>
              <a:t>PULSAR 16B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C9510-72AE-4787-A5FE-09056405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Published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43749-F060-4BE3-9C64-4BF1080A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476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31.6B → 16.15B total parameters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BF16, FP8 and NVFP4 artifacts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Tool calling and long-context claims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Vendor says NVIDIA reproduced the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E8EFC-7997-4346-83A3-948772BF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Still missing for bank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052FE-66B5-445B-9AD5-8C848D91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Raw reproduction artifacts, bank tasks, uncertainty, contamination analysis and license-chain opinion.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4161A-0D82-4149-838D-B1D1A156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002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D16C3-E0BC-4F0E-871F-3A031C60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1920"/>
                </a:solidFill>
              </a:defRPr>
            </a:pPr>
            <a:r>
              <a:rPr sz="1875" b="1">
                <a:solidFill>
                  <a:srgbClr val="D71920"/>
                </a:solidFill>
              </a:rPr>
              <a:t>HYPERNOVA 60B 2605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96365-8245-4AE2-9DAB-49FDBADC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Published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1B408-AB3B-4062-AB3C-24B8A6E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60B total / 4.8B active MoE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gpt-oss-120b-derived open weights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OpenAI-style tool schemas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Independent Artificial Analysis listing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44447-4C2B-4B2D-A826-CFCAD14B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Still missing for bank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AB431-5EA3-40AE-BDF7-BB9DDB12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910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Stable version manifest, bank controls, provider-neutral unit economics and task-level acceptance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32B62-2919-43E1-A504-4971D5F1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0E16"/>
                </a:solidFill>
              </a:defRPr>
            </a:pPr>
            <a:r>
              <a:rPr sz="1350" b="1">
                <a:solidFill>
                  <a:srgbClr val="A90E16"/>
                </a:solidFill>
              </a:rPr>
              <a:t>Both repositories may require trusted remote code: pin, mirror, scan and review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1951798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C0AB0-7686-4A2E-9276-2C4189D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E2FACDF-96A3-4404-B056-79D8BCDA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614E1AD9-505E-4B9B-97CB-A5167EFA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692F4A-16D0-4897-BFF9-35D33FB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Near-parity on some tasks masks material gaps on others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B5A9C-68C2-49F0-8DD0-625EFA7C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0873C-5B63-4416-9786-0CB74AB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D29A4-8D7C-416F-8E13-C37E315E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2BAC6-2C85-4103-A0DA-D6804CFA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7E226-6E7C-4F52-83FA-9B0FF37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Published candidate ÷ base score; directional only because the two models use different benchmark suites.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81050" y="1866900"/>
          <a:ext xmlns:a="http://schemas.openxmlformats.org/drawingml/2006/main" cx="103822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3d44408819483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55685-ADBE-4E6D-BD67-7AFDF88A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0E16"/>
                </a:solidFill>
              </a:defRPr>
            </a:pPr>
            <a:r>
              <a:rPr sz="1500" b="1">
                <a:solidFill>
                  <a:srgbClr val="A90E16"/>
                </a:solidFill>
              </a:rPr>
              <a:t>Implication: task floors and critical-case pass rates must override the portfolio average.</a:t>
            </a:r>
          </a:p>
        </p:txBody>
      </p:sp>
    </p:spTree>
    <p:extLst>
      <p:ext uri="{BB962C8B-B14F-4D97-AF65-F5344CB8AC3E}">
        <p14:creationId xmlns:p14="http://schemas.microsoft.com/office/powerpoint/2010/main" val="1513895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7232D0-0C2D-4534-B6E6-C8C2CD15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BC5B0E6-3C39-416E-BE46-B4F1815A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E30F240D-B097-4A73-8CD7-74E1E82F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845FC-AA09-4FA0-A261-B42BDCA5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Efficiency claims are promising — and highly configuration dependent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F8B22-7F1A-407F-85A8-EAC7ED5E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B3A6E-B28D-43B0-8897-AFA7D7E4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BF155-7ACE-4C34-AF18-2B3323C1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B85E7-8131-42A2-A734-DA1E96C6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48FA0-9C7E-441F-8600-B1288715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PULSAR • vendor-published B200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CB89F-3C5A-46B0-8028-F5F18260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5F4C2-0BB6-4361-AA49-35235669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4791F-DBB5-4F9A-BB9A-7FD8F155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fewer total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17156-902D-4F97-A014-B452DC41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38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F7C09-8C47-4A90-A2AB-AB5B9667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9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+12%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FCD02-468C-46C5-BA68-8AABAFA7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908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BF16 system throughput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A6CC8-81F9-41FF-97EE-FDB256AE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BF7FE-1AE3-4EAD-8850-8E81E8F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~+40%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F71B-343D-4A0F-96AB-BB39B645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FP8 / NVFP4 throughput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1A9E9-D706-463E-9435-3EF93B60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3F0CC-DE84-418E-A571-767D82C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~10 GB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4791E-64A0-4D90-8AD6-3C9F701E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910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NVFP4 model weights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69BAC-D025-4D20-88A6-8BD9712C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192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C1A12-5B9E-44E3-8057-ED26C89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HYPERNOVA • model-card snapshot, concurrency 128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F720FB-BCFE-4A99-8312-B0997795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6AD26-6933-43EA-94F5-9EC22C8A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−51%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3C353-161A-46FF-9524-7FDB1911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908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reported model-weight footprint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79AFB-1CB0-45F8-A8D5-7918F07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D21D4-E408-42A5-99D0-157FD650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+36%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2A4D2-BCE1-48F9-A190-C162487D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908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system output throughput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94804F-577D-41E0-ABE2-EBB662A5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CEC17-5B16-4FA6-A11F-358D65E2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−31%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F63AE-8462-4047-93B3-34B8C86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time to first token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FE966B-A428-4EC4-8694-AB26740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2D7FE6-7CC7-4E4E-9584-2CD3BB9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140M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4D08ED-16E7-4422-978E-7692B9D8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910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AA evaluation output tokens — high verbosity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BB6886-0069-4623-A339-33A0419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0E16"/>
                </a:solidFill>
              </a:defRPr>
            </a:pPr>
            <a:r>
              <a:rPr sz="1500" b="1">
                <a:solidFill>
                  <a:srgbClr val="A90E16"/>
                </a:solidFill>
              </a:rPr>
              <a:t>Bank metric: cost and energy per successful task, under matched workload and infrastructure — not tokens/second alone.</a:t>
            </a:r>
          </a:p>
        </p:txBody>
      </p:sp>
    </p:spTree>
    <p:extLst>
      <p:ext uri="{BB962C8B-B14F-4D97-AF65-F5344CB8AC3E}">
        <p14:creationId xmlns:p14="http://schemas.microsoft.com/office/powerpoint/2010/main" val="286712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10E51-86FD-4D6C-92DB-93EC2E5E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BBAB682-5911-4E19-B193-99B9B91E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CE65D60F-CFBF-4DAA-B910-BB87773E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2C1144-0DD9-4422-89AE-795584E6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The benchmark has one contract: capability × control × economics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F3F88-5D0B-42C1-AD6F-3D139213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30FD8-73AE-4591-B6B9-6AB5A0AA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60E29-C8BF-4AA7-9DBB-E51F64BA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42BF6-3F23-457F-A651-A39731FB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35F23-ACAE-4C6A-B8A5-9CC19FD0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105150" cy="40195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CE9EA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41233-7FF3-4EC7-9151-6C28E11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562FE-BDFA-4883-89C8-7C57C5C8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124"/>
                </a:solidFill>
              </a:defRPr>
            </a:pPr>
            <a:r>
              <a:rPr sz="1950" b="1">
                <a:solidFill>
                  <a:srgbClr val="202124"/>
                </a:solidFill>
              </a:rPr>
              <a:t>Can it do the job?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32E33-0B15-4626-9951-18567780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16941-AED9-4991-90D0-8848ED2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647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Grounded QA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Summarization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Extraction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Math + SQL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Tool calling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Long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4BDD9-E382-4A05-8ABF-5996216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3105150" cy="40195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7F100-9FAE-4DD6-9936-BEA1074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431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18AED-C7A5-45EE-9A70-8C68D17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124"/>
                </a:solidFill>
              </a:defRPr>
            </a:pPr>
            <a:r>
              <a:rPr sz="1950" b="1">
                <a:solidFill>
                  <a:srgbClr val="202124"/>
                </a:solidFill>
              </a:rPr>
              <a:t>Can it fail safely?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CCF86-6D30-46AE-914E-B8793EFC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D024F-FB5A-4BC2-BB5E-51DC114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2647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PII + secrets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Prompt injection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Policy adherence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Excessive agency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Malformed tools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Human escalation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3D5C3-30B5-4673-B145-20FB571C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95450"/>
            <a:ext cx="3105150" cy="40195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E8214-BBE8-4B27-B4C6-FFDC5BF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ECONOMICS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D1C5C-9E30-484C-899F-E3E4215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124"/>
                </a:solidFill>
              </a:defRPr>
            </a:pPr>
            <a:r>
              <a:rPr sz="1950" b="1">
                <a:solidFill>
                  <a:srgbClr val="202124"/>
                </a:solidFill>
              </a:rPr>
              <a:t>Does it improve the unit?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263A6-5AE9-4F00-ADB7-8BA01EB8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EDCF0-8D24-4906-BF13-D35E89E9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2647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p50 / p95 / p99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Throughput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Peak memory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GPU-hours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Energy / task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Cost /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9487F-2C85-4C27-9D93-09683F8E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245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E16"/>
                </a:solidFill>
              </a:defRPr>
            </a:pPr>
            <a:r>
              <a:rPr sz="1575" b="1">
                <a:solidFill>
                  <a:srgbClr val="A90E16"/>
                </a:solidFill>
              </a:rPr>
              <a:t>A model advances only when all three gates pass for the intended use case.</a:t>
            </a:r>
          </a:p>
        </p:txBody>
      </p:sp>
    </p:spTree>
    <p:extLst>
      <p:ext uri="{BB962C8B-B14F-4D97-AF65-F5344CB8AC3E}">
        <p14:creationId xmlns:p14="http://schemas.microsoft.com/office/powerpoint/2010/main" val="1293003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7207C3-F86C-4563-8E1B-1A0FE3D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D0C8C56-32BA-4099-A064-17235ACC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084BEE8D-FCDA-47AC-B813-E10509F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089EC1-F5B3-42A2-A150-201A4791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The starter suite exposes bank-relevant failure modes before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DAE81-E71F-476D-88D2-05DB5C5C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404D5-CA2B-4912-BCC6-37F90ACC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D5993-687E-4D1F-A266-EE5CD370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FE8D2-9905-4CEB-8680-C9329AD8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5D0-4E33-4F6A-B637-A8E2C6B8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35931-7181-46CE-8E4D-B8861FA9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0540E-1A0A-448C-81DD-7CD6A32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synthetic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3741A-56FD-4C41-989E-E6426A94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192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E1400-DB91-4C7A-9CB9-EB00ED8F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DD944-F9F4-4808-93B9-A02F1632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717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task families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20ECC-7688-425A-874F-7047BD6C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192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6B900-310F-476C-9366-A5EFD63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75982-82F9-43CD-86BA-87455870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717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risk tiers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DD543-9073-439A-B26A-7FC99139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192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F81A0-9A75-453A-887C-30E6DD35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90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BB8CC-98A3-4681-9B33-BFD10A9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717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customer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1F08B-E8EC-4151-AF49-3A73D15E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1920"/>
                </a:solidFill>
              </a:defRPr>
            </a:pPr>
            <a:r>
              <a:rPr sz="1500" b="1">
                <a:solidFill>
                  <a:srgbClr val="D71920"/>
                </a:solidFill>
              </a:rPr>
              <a:t>Four evaluation lanes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261D0-62A2-4181-AFBB-71D727D1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3DD7F-5DD4-4E78-9C3A-0931C455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Language + grounding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E7A8C-E14B-4617-AA60-328C1623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QA • summary • extraction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7CB6C-FD12-4752-91D8-4009A2A9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5C8C2-65DE-4440-AD1D-AEB01BAC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Reasoning +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6FA2E-84AD-46A0-9B8E-F36931D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958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math • classification • tools • 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A9FD3-0466-4B3D-9F55-E9FAC82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862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4F6F3-4A78-415A-A29A-C9E96D5C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Trust + safety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D71EA-3C80-4E2D-BB78-A4F80E10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958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PII • injection •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71EC5B-251A-4905-A57C-A79B7F3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F71D63-DFB7-4920-B517-0BC47FDE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Boundary conditions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A5E4F3-371D-469E-8B60-6E6702A2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</a:defRPr>
            </a:pPr>
            <a:r>
              <a:rPr sz="1275" b="0">
                <a:solidFill>
                  <a:srgbClr val="60646C"/>
                </a:solidFill>
              </a:rPr>
              <a:t>long context • Spanish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F60EE5-D091-4AF3-BA7E-7739A295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0E16"/>
                </a:solidFill>
              </a:defRPr>
            </a:pPr>
            <a:r>
              <a:rPr sz="1500" b="1">
                <a:solidFill>
                  <a:srgbClr val="A90E16"/>
                </a:solidFill>
              </a:rPr>
              <a:t>Formal decision set: ≥30 cases per family, de-identified use-case samples, sealed holdout, blind dual review on high-risk free text.</a:t>
            </a:r>
          </a:p>
        </p:txBody>
      </p:sp>
    </p:spTree>
    <p:extLst>
      <p:ext uri="{BB962C8B-B14F-4D97-AF65-F5344CB8AC3E}">
        <p14:creationId xmlns:p14="http://schemas.microsoft.com/office/powerpoint/2010/main" val="1206453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03CD9-588E-4DD3-B5B1-9F20E719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A8F9D93-D14B-4803-B3DA-807D112C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A3A48388-DDB1-4676-AA7C-46789936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76E0BE-5E0A-43C6-A863-024D3602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Paired testing isolates the model effect from the serving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6BCAB-D840-491C-A79F-3417D130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A4564-DE6C-46BE-A847-40CB00E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89D18-1306-4EE8-A30F-BEAC27B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9C90C-D74B-4759-96A4-C38671E1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09</a:t>
            </a:r>
          </a:p>
        </p:txBody>
      </p:sp>
      <p:sp>
        <p:nvSpPr>
          <p:cNvPr id="9" name="design-node-0">
            <a:extLst xmlns:a="http://schemas.openxmlformats.org/drawingml/2006/main">
              <a:ext uri="{FF2B5EF4-FFF2-40B4-BE49-F238E27FC236}">
                <a16:creationId xmlns:a16="http://schemas.microsoft.com/office/drawing/2014/main" id="{8CCFB0A3-84FD-4D9F-9CD5-FF1C040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714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0" name="design-node-1">
            <a:extLst xmlns:a="http://schemas.openxmlformats.org/drawingml/2006/main">
              <a:ext uri="{FF2B5EF4-FFF2-40B4-BE49-F238E27FC236}">
                <a16:creationId xmlns:a16="http://schemas.microsoft.com/office/drawing/2014/main" id="{8768DBE3-72DA-47D5-9B99-9A8E2EAE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714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1" name="design-node-2">
            <a:extLst xmlns:a="http://schemas.openxmlformats.org/drawingml/2006/main">
              <a:ext uri="{FF2B5EF4-FFF2-40B4-BE49-F238E27FC236}">
                <a16:creationId xmlns:a16="http://schemas.microsoft.com/office/drawing/2014/main" id="{A3E547CC-D074-4758-A9DE-F80AF9F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714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2" name="design-node-3">
            <a:extLst xmlns:a="http://schemas.openxmlformats.org/drawingml/2006/main">
              <a:ext uri="{FF2B5EF4-FFF2-40B4-BE49-F238E27FC236}">
                <a16:creationId xmlns:a16="http://schemas.microsoft.com/office/drawing/2014/main" id="{3F51F15F-2136-4F56-B2A2-C65DA9D5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1714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3" name="design-node-4">
            <a:extLst xmlns:a="http://schemas.openxmlformats.org/drawingml/2006/main">
              <a:ext uri="{FF2B5EF4-FFF2-40B4-BE49-F238E27FC236}">
                <a16:creationId xmlns:a16="http://schemas.microsoft.com/office/drawing/2014/main" id="{8EA02394-E643-4217-A756-165B1F8C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1714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003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910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818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9725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31893-F32F-4AA2-A720-F26D0126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FREEZE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039FE-186B-440E-8AFF-DA1CFA7A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weights • runtime</a:t>
            </a:r>
          </a:p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hardware • prompts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E15D7-B579-4092-943C-280DF42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WARM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8DE17-6DD7-4DA1-BCB8-8AA48904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same cache state</a:t>
            </a:r>
          </a:p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identical workload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237F3-A5D2-4572-B1AA-7B6FDBCE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PAIR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901D4-EA1E-47C4-A466-501A243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baseline + candidate</a:t>
            </a:r>
          </a:p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randomized 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0B1EA-4C0F-4AF8-857A-22A99C2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REPEAT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C2140-1B8C-4079-A261-F24EB858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fixed seeds</a:t>
            </a:r>
          </a:p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3+ repetitions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9BBC6-BDF0-4472-BECE-E3D00DC2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COMPARE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16501-546E-4274-AA04-CAA7F2FC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14700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paired CI</a:t>
            </a:r>
          </a:p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task-level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801D6-F40F-4B3E-90F1-7D037DA1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Run two profiles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1E620-3A94-4FD3-A47D-5C483A0C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573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Application profile: temperature 0  •  Vendor-reproduction profile: exact published decode settings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0F9C04-C839-43F2-B5BF-2E1AAE1C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E16"/>
                </a:solidFill>
              </a:defRPr>
            </a:pPr>
            <a:r>
              <a:rPr sz="1575" b="1">
                <a:solidFill>
                  <a:srgbClr val="A90E16"/>
                </a:solidFill>
              </a:rPr>
              <a:t>Never compare a self-hosted candidate to a throttled hosted baseline and attribute the difference to compression.</a:t>
            </a:r>
          </a:p>
        </p:txBody>
      </p:sp>
    </p:spTree>
    <p:extLst>
      <p:ext uri="{BB962C8B-B14F-4D97-AF65-F5344CB8AC3E}">
        <p14:creationId xmlns:p14="http://schemas.microsoft.com/office/powerpoint/2010/main" val="1002063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D180BD-E4B9-4620-9A25-DB2EF03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F3B220E-D06D-481A-A586-3C8C5EB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60B8D2CD-0AEA-4967-BD9D-EBE329E8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BBBD43-D9D8-422E-95E8-3FA3282C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The control tower dispatches bounded agents and preserves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9B679-36BF-4D8F-9CE1-68EF1034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1A5C8-420D-4CB8-A3E4-2C59DDF4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BC5CB-AF25-4D4C-92B8-0815BB4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87D5F-FB02-434D-8110-0CDE6D7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10</a:t>
            </a:r>
          </a:p>
        </p:txBody>
      </p:sp>
      <p:sp>
        <p:nvSpPr>
          <p:cNvPr id="9" name="control-tower">
            <a:extLst xmlns:a="http://schemas.openxmlformats.org/drawingml/2006/main">
              <a:ext uri="{FF2B5EF4-FFF2-40B4-BE49-F238E27FC236}">
                <a16:creationId xmlns:a16="http://schemas.microsoft.com/office/drawing/2014/main" id="{E99B8FCE-0BD0-4479-BD06-089723FA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000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0" name="execution-workers">
            <a:extLst xmlns:a="http://schemas.openxmlformats.org/drawingml/2006/main">
              <a:ext uri="{FF2B5EF4-FFF2-40B4-BE49-F238E27FC236}">
                <a16:creationId xmlns:a16="http://schemas.microsoft.com/office/drawing/2014/main" id="{A3D0D0D8-F4F8-4B6D-9E57-3154E338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1" name="grading-workers">
            <a:extLst xmlns:a="http://schemas.openxmlformats.org/drawingml/2006/main">
              <a:ext uri="{FF2B5EF4-FFF2-40B4-BE49-F238E27FC236}">
                <a16:creationId xmlns:a16="http://schemas.microsoft.com/office/drawing/2014/main" id="{A98C5AA0-0633-4C48-9914-D4AD6C2B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2" name="risk-workers">
            <a:extLst xmlns:a="http://schemas.openxmlformats.org/drawingml/2006/main">
              <a:ext uri="{FF2B5EF4-FFF2-40B4-BE49-F238E27FC236}">
                <a16:creationId xmlns:a16="http://schemas.microsoft.com/office/drawing/2014/main" id="{4D3106D0-F424-4E4F-A133-F51212F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3" name="model-endpoints">
            <a:extLst xmlns:a="http://schemas.openxmlformats.org/drawingml/2006/main">
              <a:ext uri="{FF2B5EF4-FFF2-40B4-BE49-F238E27FC236}">
                <a16:creationId xmlns:a16="http://schemas.microsoft.com/office/drawing/2014/main" id="{103499B1-4CFB-4CE2-876F-F37A2920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21526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4" name="evidence-store">
            <a:extLst xmlns:a="http://schemas.openxmlformats.org/drawingml/2006/main">
              <a:ext uri="{FF2B5EF4-FFF2-40B4-BE49-F238E27FC236}">
                <a16:creationId xmlns:a16="http://schemas.microsoft.com/office/drawing/2014/main" id="{611AB6AB-E085-4C7B-988C-B8B28DD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21526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9EA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5" name="decision-gate">
            <a:extLst xmlns:a="http://schemas.openxmlformats.org/drawingml/2006/main">
              <a:ext uri="{FF2B5EF4-FFF2-40B4-BE49-F238E27FC236}">
                <a16:creationId xmlns:a16="http://schemas.microsoft.com/office/drawing/2014/main" id="{C369287D-4A68-4176-9E13-151CCDD7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38400"/>
            <a:ext cx="2000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667000" y="2095500"/>
            <a:ext cx="85725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71920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67000" y="3143250"/>
            <a:ext cx="85725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71920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67000" y="3143250"/>
            <a:ext cx="8572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71920"/>
            </a:solidFill>
            <a:prstDash val="solid"/>
            <a:headEnd type="arrow" w="sm" len="sm"/>
          </a:ln>
        </p:spPr>
      </p:cxnSp>
      <p:cxnSp>
        <p:nvCxnSpPr>
          <p:cNvPr id="5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19750" y="2095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1920"/>
            </a:solidFill>
            <a:prstDash val="solid"/>
            <a:headEnd type="arrow" w="sm" len="sm"/>
          </a:ln>
        </p:spPr>
      </p:cxnSp>
      <p:cxnSp>
        <p:nvCxnSpPr>
          <p:cNvPr id="59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553325" y="26098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46C"/>
            </a:solidFill>
            <a:prstDash val="solid"/>
            <a:headEnd type="arrow" w="sm" len="sm"/>
          </a:ln>
        </p:spPr>
      </p:cxnSp>
      <p:cxnSp>
        <p:nvCxnSpPr>
          <p:cNvPr id="60" name=""/>
          <p:cNvCxnSpPr>
            <a:stCxn xmlns:a="http://schemas.openxmlformats.org/drawingml/2006/main" id="14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5619750" y="3524250"/>
            <a:ext cx="8572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46C"/>
            </a:solidFill>
            <a:prstDash val="solid"/>
            <a:headEnd type="arrow" w="sm" len="sm"/>
          </a:ln>
        </p:spPr>
      </p:cxnSp>
      <p:cxnSp>
        <p:nvCxnSpPr>
          <p:cNvPr id="61" name=""/>
          <p:cNvCxnSpPr>
            <a:stCxn xmlns:a="http://schemas.openxmlformats.org/drawingml/2006/main" id="14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619750" y="3810000"/>
            <a:ext cx="8572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0646C"/>
            </a:solidFill>
            <a:prstDash val="solid"/>
            <a:headEnd type="arrow" w="sm" len="sm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619750" y="3181350"/>
            <a:ext cx="3867150" cy="342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F7A4D"/>
            </a:solidFill>
            <a:prstDash val="solid"/>
            <a:headEnd type="arrow" w="sm" len="sm"/>
          </a:ln>
        </p:spPr>
      </p:cxnSp>
      <p:cxnSp>
        <p:nvCxnSpPr>
          <p:cNvPr id="6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619750" y="3295650"/>
            <a:ext cx="3867150" cy="1657350"/>
          </a:xfrm>
          <a:prstGeom xmlns:a="http://schemas.openxmlformats.org/drawingml/2006/main" prst="bentConnector3">
            <a:avLst>
              <a:gd name="adj1" fmla="val 94089"/>
            </a:avLst>
          </a:prstGeom>
          <a:ln xmlns:a="http://schemas.openxmlformats.org/drawingml/2006/main" w="19050">
            <a:solidFill>
              <a:srgbClr val="1F7A4D"/>
            </a:solidFill>
            <a:prstDash val="solid"/>
            <a:headEnd type="arrow" w="sm" len="sm"/>
          </a:ln>
        </p:spPr>
      </p:cxnSp>
      <p:cxnSp>
        <p:nvCxnSpPr>
          <p:cNvPr id="6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8629650" y="3295650"/>
            <a:ext cx="857250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7A4D"/>
            </a:solidFill>
            <a:prstDash val="solid"/>
            <a:head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B77186-A889-4DA4-B4BC-CA2903B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CONTROL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TOWER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301E42-2CC5-46DA-A046-5006C836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manifest • dispatch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audit • replay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7B293-3105-408D-A1D1-79858BBA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907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EXECUTION AGENTS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E66D5-4B26-4253-AA77-4623DBE1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46C"/>
                </a:solidFill>
              </a:defRPr>
            </a:pPr>
            <a:r>
              <a:rPr sz="1125" b="0">
                <a:solidFill>
                  <a:srgbClr val="60646C"/>
                </a:solidFill>
              </a:rPr>
              <a:t>paired model calls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62E9D9-4180-4A02-80F5-7E95AC7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GRADING AGENTS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6998B-D99A-4195-85B6-33DEFDAD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46C"/>
                </a:solidFill>
              </a:defRPr>
            </a:pPr>
            <a:r>
              <a:rPr sz="1125" b="0">
                <a:solidFill>
                  <a:srgbClr val="60646C"/>
                </a:solidFill>
              </a:rPr>
              <a:t>exact • JSON • rubric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DB224-E20C-4F9C-87C8-2BEA321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482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RISK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F28A4-0389-4693-A18A-282FB277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91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46C"/>
                </a:solidFill>
              </a:defRPr>
            </a:pPr>
            <a:r>
              <a:rPr sz="1125" b="0">
                <a:solidFill>
                  <a:srgbClr val="60646C"/>
                </a:solidFill>
              </a:rPr>
              <a:t>critical control veto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4AC6B4-6A0B-4197-B974-1CF80E7A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MODEL ENDPOINTS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82EBD4-6A12-4C0C-871B-FE6EFECF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46C"/>
                </a:solidFill>
              </a:defRPr>
            </a:pPr>
            <a:r>
              <a:rPr sz="1125" b="0">
                <a:solidFill>
                  <a:srgbClr val="60646C"/>
                </a:solidFill>
              </a:rPr>
              <a:t>baseline + candidates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67173-F239-4B34-9D07-27C4A591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EVIDENCE STORE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4AA95B-6623-468D-81DF-A59E9F5B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46C"/>
                </a:solidFill>
              </a:defRPr>
            </a:pPr>
            <a:r>
              <a:rPr sz="1125" b="0">
                <a:solidFill>
                  <a:srgbClr val="60646C"/>
                </a:solidFill>
              </a:rPr>
              <a:t>raw output • usage • trace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C8FE5-6547-46AE-882A-5389909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DECISION</a:t>
            </a:r>
          </a:p>
          <a:p xmlns:a="http://schemas.openxmlformats.org/drawingml/2006/main">
            <a:pPr algn="ctr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GATE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E4AAC1-773E-4ECE-936A-EBFACE9A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052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quality × control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× economics</a:t>
            </a:r>
          </a:p>
        </p:txBody>
      </p:sp>
    </p:spTree>
    <p:extLst>
      <p:ext uri="{BB962C8B-B14F-4D97-AF65-F5344CB8AC3E}">
        <p14:creationId xmlns:p14="http://schemas.microsoft.com/office/powerpoint/2010/main" val="1657488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17A9B9-F12D-469C-A32C-F650AD1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262EC45-C2B9-4A88-9177-B62A923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915F6D17-9BDD-456C-A067-A7DB64E8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ADA7CF-5FC8-41EE-8705-10464C48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Every run produces a replayable decision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FDF90-E0C9-4177-BB9F-DAB7548A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83F9F-068D-4E72-9F98-D957FB58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D11D0-5833-42D4-9D2A-1BD9A98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6C805-06B8-4A28-B6BF-B6D0378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6DC91-B262-4521-B73E-B3DA7B52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2200F-5182-4AEF-B0CA-9CA77423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022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05477-D158-4416-AA80-FF0FAFC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00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Preflight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0FEEE-4325-4934-B504-4775AC65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hash weights • validate schema • check secrets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6CFF4-B7DD-4AFB-95CF-CC9A8BF8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04F82-5010-48BB-98FC-DE04C1B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4317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45BEC-F990-4646-9A72-E192EB39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43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A0507-D055-4E59-9656-99005D32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randomize paired requests • enforce concurrency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DEDD2-2A4D-4ED5-A5AE-AB62EE3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B2B7A-EB3D-4C4A-AF04-855BDADC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8612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C9B02-59D9-46C8-963F-1D278982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Capture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12A35-995F-42FB-8E5D-5A534FC5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raw output • tokens • latency • tool calls •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C59FB-EA6E-4107-A5DD-4EEA91D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B07ED-BEFB-46EC-8F13-356354F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7E8AA-261D-4F69-955D-1AF9C92A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5F258-1413-472E-911E-B2B276D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290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deterministic first • judge only where calibrated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04E08-EF75-4984-BFEA-E93048F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339F4-58B8-4994-9F41-103963DC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7202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0E240-2F2B-473D-BC5E-C6770BBA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72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Challenge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58C35-EE20-467F-8B0A-30B66AE4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risk veto • human review • paired confidence interval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8DDB4-18D1-4055-8D58-AC310CA8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1C49B-4473-4E43-A5EB-4056A2B4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1497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34AD5-F4B7-40D4-A21F-E943C5B5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1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Decide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5128A-F59A-4C47-AA05-39418D84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149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pass • constrain • remediate • reject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C33A46-D5C0-41CD-9F78-52D7A174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66C22E-5665-4AB8-BB46-FB4B801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531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0E16"/>
                </a:solidFill>
              </a:defRPr>
            </a:pPr>
            <a:r>
              <a:rPr sz="1500" b="1">
                <a:solidFill>
                  <a:srgbClr val="A90E16"/>
                </a:solidFill>
              </a:rPr>
              <a:t>A missing metric is NOT_MEASURED — and blocks approval.</a:t>
            </a:r>
          </a:p>
        </p:txBody>
      </p:sp>
    </p:spTree>
    <p:extLst>
      <p:ext uri="{BB962C8B-B14F-4D97-AF65-F5344CB8AC3E}">
        <p14:creationId xmlns:p14="http://schemas.microsoft.com/office/powerpoint/2010/main" val="15260915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0FD4D0-6FAD-4605-9E94-C93E4C5E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84DDA5B-153B-40AD-A96D-2BEA30CE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B882DBCF-2C8B-4503-BBB7-58ECCB8A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BD3121-F830-4013-9197-32F1D663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Decision gates convert “looks good” into an auditable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B55CA-C3C9-4BF4-8008-2F2812AD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EC971-D963-4332-88CB-79C01E8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B7DC3-2029-4721-8331-B48B70A6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3FD90-B626-4CF8-B4F8-22E9C23F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76C4F-F840-4C01-91C0-F24FDC26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01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DD473-8D4B-4ACD-A7EC-2738578F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4F773-2CFE-4709-AD90-E2DBFE4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PRODUCTION THRESHOLD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2F9A4-8451-4652-BD9E-0ED3A893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71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FAILURE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EDECA-F0B7-4083-B3E6-BB34D31D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0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F58E8-6536-4B0B-80FC-50EAC976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574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Critical 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87706-A964-4C87-8918-7989B95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574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100%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6BB07-09B9-4757-BEA0-9720A7FE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Block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330F4-E5E4-4493-9168-5F4A1DB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0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568F2-E815-4DD6-876C-C85C88A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Aggregate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F659C-03D7-41B1-A474-D2C4B154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9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≥97% retention vs required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45C47-1C06-4D81-BBCB-037F30E1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46C"/>
                </a:solidFill>
              </a:defRPr>
            </a:pPr>
            <a:r>
              <a:rPr sz="1275" b="1">
                <a:solidFill>
                  <a:srgbClr val="60646C"/>
                </a:solidFill>
              </a:rPr>
              <a:t>Constrain / remediate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11341-FA38-40F0-8D54-02A33C73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0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9FBC0-778C-4A40-955D-70B517D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Critical task family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040EC-C866-410E-8792-7563CD2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62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≥95% retention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5BDE9-3EBB-4D3C-813C-B95658CB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62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46C"/>
                </a:solidFill>
              </a:defRPr>
            </a:pPr>
            <a:r>
              <a:rPr sz="1275" b="1">
                <a:solidFill>
                  <a:srgbClr val="60646C"/>
                </a:solidFill>
              </a:rPr>
              <a:t>Block use 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906ED-4EFE-4C0A-847F-0C3F340A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0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F4023-64E0-4251-8352-54B04D0E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High-risk uncertainty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3227F-8EF4-4E15-8E79-A7D43FF8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147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95% CI lower bound ≥ −2 pts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8FA1D-A5E9-4629-8118-DE301EC5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14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46C"/>
                </a:solidFill>
              </a:defRPr>
            </a:pPr>
            <a:r>
              <a:rPr sz="1275" b="1">
                <a:solidFill>
                  <a:srgbClr val="60646C"/>
                </a:solidFill>
              </a:rPr>
              <a:t>Expand sample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4DA59-11B0-48DC-ACB5-78EE4224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0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1E9D2-8604-42FC-8EE0-1433F7C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Efficiency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400DF4-1F08-40E9-AC98-BC87CE13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672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p95 latency ≥20% better OR throughput ≥25%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14C86-CA96-489B-8A40-416850D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672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46C"/>
                </a:solidFill>
              </a:defRPr>
            </a:pPr>
            <a:r>
              <a:rPr sz="1275" b="1">
                <a:solidFill>
                  <a:srgbClr val="60646C"/>
                </a:solidFill>
              </a:rPr>
              <a:t>No efficiency claim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4B2BA5-3BB6-4055-80D7-889CD1C3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0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1618A9-A6D9-4E4E-9AC4-32A883A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Unit economics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B1B559-F3D3-4566-8F76-0B91BA9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196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Cost per successful task ≥30% better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20E6EF-80CC-42F6-BBE8-62FCE143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96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46C"/>
                </a:solidFill>
              </a:defRPr>
            </a:pPr>
            <a:r>
              <a:rPr sz="1275" b="1">
                <a:solidFill>
                  <a:srgbClr val="60646C"/>
                </a:solidFill>
              </a:rPr>
              <a:t>Reprice / reject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780CBB-B84C-476C-A3B8-2EFCE1FE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0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84981D-3137-42F9-ACCF-3384031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Reliability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BF2733-2386-4D31-A2BD-B526DD39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72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≤0.5% error rate; no evidence loss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F93A5B-CD00-4B89-885B-1DB1EC0E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72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</a:defRPr>
            </a:pPr>
            <a:r>
              <a:rPr sz="1275" b="1">
                <a:solidFill>
                  <a:srgbClr val="D71920"/>
                </a:solidFill>
              </a:rPr>
              <a:t>Block</a:t>
            </a:r>
          </a:p>
        </p:txBody>
      </p:sp>
    </p:spTree>
    <p:extLst>
      <p:ext uri="{BB962C8B-B14F-4D97-AF65-F5344CB8AC3E}">
        <p14:creationId xmlns:p14="http://schemas.microsoft.com/office/powerpoint/2010/main" val="127487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B329C-C115-4F31-BA7C-59D6046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5B6534D-9B15-4ED5-8698-E09083C1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2BD9A853-FAFA-4997-893B-5B971A0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DF608F-64F0-4391-B748-5BE16902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Bank onboarding requires governance beyond benchmark scores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886B7-A204-40F1-BF20-6CBFE581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1B722-4DF6-4A83-B065-447D13B9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69194-1B89-4B07-A0B2-A8A0CB0B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E2BBC-277C-4D38-90EB-3DFC1F1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0A577-04A8-4B8B-8F84-6B715DDC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MODEL / THIRD-PARTY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3F48F-0530-4A5D-A013-8C3C9BF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Independent challenge and outcomes analysis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Vendor methodology and limitation review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Change notification and revalidation triggers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E8A8F-8233-4EBE-AFFF-491A275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SECURITY + SUPPLY CHAIN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FDA86-E365-48FD-8360-8CCB223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Mirror and checksum weights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SBOM, malware and remote-code review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Private endpoints, egress controls and secret vault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2BDFD-75BF-487E-BF95-5EB128EF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190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F03F2-DC8F-452A-9186-90CD7594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DATA + HUMAN OVERSIGHT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94898-B0CA-42AE-8F79-5BE31E7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De-identified test data and sealed holdout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No autonomous monetary or adverse action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Human escalation and appeal pathways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5C807-9531-4BF0-B900-2AAF4D8F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OPERATIONS + 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BFF5D-1BFC-4FFB-AB41-AFC7CB9D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Versioned prompts, models and gates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Drift, safety, latency and cost monitoring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• Incident response, rollback and kill switch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9607A-5B61-440A-AD0E-E6F7E6DD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0E16"/>
                </a:solidFill>
              </a:defRPr>
            </a:pPr>
            <a:r>
              <a:rPr sz="1200" b="1">
                <a:solidFill>
                  <a:srgbClr val="A90E16"/>
                </a:solidFill>
              </a:rPr>
              <a:t>SR-26-2 formally excludes generative and agentic AI; its vendor-validation principles are used here as a conservative governance analogue.</a:t>
            </a:r>
          </a:p>
        </p:txBody>
      </p:sp>
    </p:spTree>
    <p:extLst>
      <p:ext uri="{BB962C8B-B14F-4D97-AF65-F5344CB8AC3E}">
        <p14:creationId xmlns:p14="http://schemas.microsoft.com/office/powerpoint/2010/main" val="682880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F52CD2-8849-4E7A-A01F-6AFFE19C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261B2F9-EA20-43F3-863B-D47B6EB9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59E2D614-A5F4-4A2D-B54D-77E44DD2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C4C45C-F015-4985-ACD7-648D880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A six-week pilot can resolve the decision without production exposure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3FDA3-6E11-463F-8047-3BB5448F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18940-697B-495A-92F0-C375043F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311A8-DEED-49DD-8CC8-C78D4A0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7E54C-FAAD-42EC-B47D-D2DA8D0E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A94FD-63DD-4D73-AE97-AC8C134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62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F1FD3-B650-48E3-B9B1-5A84ACD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00250" cy="2457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B6ECB-307E-4A44-97ED-9B7B06B7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765D9-A4BB-488E-ADD6-01306355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46C"/>
                </a:solidFill>
              </a:defRPr>
            </a:pPr>
            <a:r>
              <a:rPr sz="1050" b="1">
                <a:solidFill>
                  <a:srgbClr val="60646C"/>
                </a:solidFill>
              </a:rPr>
              <a:t>WEEKS 1–2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3F4E6-A55D-4D94-9BB1-CEBD7152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Evidence +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6E431-37AB-4C4B-8846-C28EB490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31525-5D67-4924-BADB-21D1F1C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Vendor artifact request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License / security review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Matched serving manifests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20D63-D0DE-48AA-BCBC-B17CAA28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2000250" cy="2457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09890-D4F3-4C0C-BEFC-F0BDB58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884D4-7D8E-4F75-B5FC-63AFBF1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76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46C"/>
                </a:solidFill>
              </a:defRPr>
            </a:pPr>
            <a:r>
              <a:rPr sz="1050" b="1">
                <a:solidFill>
                  <a:srgbClr val="60646C"/>
                </a:solidFill>
              </a:rPr>
              <a:t>WEEKS 3–4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DFE7A-EC2F-4E98-B19F-A4396C39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Independent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FA04C-A053-4F77-8CDA-B07E8E8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19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E9F68-C0A2-4DAF-891E-A2C7D58B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Expand + seal dataset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Run paired repetitions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Human review + statistics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6C337-9755-4FF0-9AB5-561FEC44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000250" cy="2457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8B8AF-9295-44BE-B95D-33574C86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349A4-B95F-4509-8ACA-1A44C2F5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46C"/>
                </a:solidFill>
              </a:defRPr>
            </a:pPr>
            <a:r>
              <a:rPr sz="1050" b="1">
                <a:solidFill>
                  <a:srgbClr val="60646C"/>
                </a:solidFill>
              </a:rPr>
              <a:t>WEEK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CE5C9-8396-4C4D-8C45-EA7F7957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Adversarial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835F9-5AD4-4E66-B9BA-E8C1193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E6D30-F772-4F9D-834E-65AE7320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Prompt injection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Tool abuse + PII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Long-context stress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77EB4F-3B51-4378-937B-9439C44A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67050"/>
            <a:ext cx="2000250" cy="2457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AE959-3117-4181-B4C3-9AAC5A50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38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1920"/>
                </a:solidFill>
              </a:defRPr>
            </a:pPr>
            <a:r>
              <a:rPr sz="2100" b="1">
                <a:solidFill>
                  <a:srgbClr val="D71920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27FC6-9B2B-4CD5-8028-2CA6787A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76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46C"/>
                </a:solidFill>
              </a:defRPr>
            </a:pPr>
            <a:r>
              <a:rPr sz="1050" b="1">
                <a:solidFill>
                  <a:srgbClr val="60646C"/>
                </a:solidFill>
              </a:rPr>
              <a:t>WEEK 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16C07-53E9-4EEB-AFF9-4FECA881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100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29D62-ED2F-4FCB-9858-C9FE99C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19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E5D26E-AAC0-4364-884B-45E22E51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291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Cost model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MRM package</a:t>
            </a:r>
          </a:p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CTO go / no-go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7C3CE2-AD38-468D-9BF0-B1A3D731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90E16"/>
                </a:solidFill>
              </a:defRPr>
            </a:pPr>
            <a:r>
              <a:rPr sz="1425" b="1">
                <a:solidFill>
                  <a:srgbClr val="A90E16"/>
                </a:solidFill>
              </a:rPr>
              <a:t>Owners: GenAI Platform • Model Risk • Information Security • Legal / Procurement • use-case SMEs</a:t>
            </a:r>
          </a:p>
        </p:txBody>
      </p:sp>
    </p:spTree>
    <p:extLst>
      <p:ext uri="{BB962C8B-B14F-4D97-AF65-F5344CB8AC3E}">
        <p14:creationId xmlns:p14="http://schemas.microsoft.com/office/powerpoint/2010/main" val="11842670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9FCF1-9ED0-447F-B135-5B4270AF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780F92E-3059-4692-B328-6321B76C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</a:defRPr>
            </a:pPr>
            <a:r>
              <a:rPr sz="1050" b="1">
                <a:solidFill>
                  <a:srgbClr val="D71920"/>
                </a:solidFill>
              </a:rPr>
              <a:t>MODEL VALIDATION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7BB72A3C-FE04-4A73-A508-DD8DFB81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WELLS FARGO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7FADF8-7290-4E50-B19E-E9C4144C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Ask Multiverse for the artifacts that make the claims reproducible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A61DF-D195-40CB-A62E-DD551FF9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36349-33BF-429C-A11F-ED5DB6F1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749B4-4689-4A44-8B9F-A8C7718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CONFIDENTIAL  •  GENAI PLATFORM  •  13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ABFB7-D343-4EEC-9220-2A3AF90D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532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46C"/>
                </a:solidFill>
              </a:defRPr>
            </a:pPr>
            <a:r>
              <a:rPr sz="825" b="1">
                <a:solidFill>
                  <a:srgbClr val="60646C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3953A-2945-4B59-B977-73AA2180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1920"/>
                </a:solidFill>
              </a:defRPr>
            </a:pPr>
            <a:r>
              <a:rPr sz="1500" b="1">
                <a:solidFill>
                  <a:srgbClr val="D71920"/>
                </a:solidFill>
              </a:rPr>
              <a:t>REPRODUCIBILITY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2B33C-FBCF-4727-98F9-C03EB81E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C0541-F5B0-4875-AB60-9548CF9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1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Exact model + base hashes and tokenizer templates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DCEF1-ACFE-419E-9385-868F9610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B6AD2-F997-4C42-BA0A-40F36A76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6429E-E577-4487-8F2C-9BF32D4C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Healing / SFT data description and benchmark dedup 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D51BE-7267-4B2D-8932-43F344EB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43439-FF63-45F4-BF5F-4BAAC879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62D1A-2222-4EA0-B56A-E19DD1A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Raw outputs, seeds, prompts, judges, parsers and exclusions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C61ED-ED4E-4B0B-9945-608DF093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26677-3C9C-4A77-9E0E-6E5FDD3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CF09D-E2FA-4D93-B3F3-C8DF4E09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NVIDIA reproduction manifests and result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24BCD-A56B-49C6-BA9E-873D3458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CA33C-F569-4CB0-88EF-F31AAD8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954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E4794-8EA3-4961-8AC8-E9F36C7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1920"/>
                </a:solidFill>
              </a:defRPr>
            </a:pPr>
            <a:r>
              <a:rPr sz="1500" b="1">
                <a:solidFill>
                  <a:srgbClr val="D71920"/>
                </a:solidFill>
              </a:rPr>
              <a:t>ENTERPRISE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9D83F-F3C7-42F2-9642-E4745F41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7B293-6906-4BA6-A5EC-2F7AAE3D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Full license chain and commercial-use opinion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6012BF-75F2-4863-947F-D20D28B6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468D6-846A-4E45-985E-9EBBFB8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EB77F-138F-4511-B4A4-CE155F77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SBOM, signing, vulnerability process and patch SLA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9EE9C-5144-43E8-9B45-C5F26AA4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AE2F8B-214D-482A-ACBA-A58336D0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9174A-69ED-43ED-AA92-9AE5A5E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Precision-specific regression tables and supported runtimes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ED8A72-1F98-441F-92E5-46CF21A4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36323A-29C6-4424-A1A0-63254BF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2D781E-C6F0-452F-9F78-8791A667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Change notification, support, telemetry and incident terms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EF04F3-F50A-43EB-804E-9BAC8BBB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863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E7E1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17F863-0340-46FB-A084-FDFBA09A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E16"/>
                </a:solidFill>
              </a:defRPr>
            </a:pPr>
            <a:r>
              <a:rPr sz="1575" b="1">
                <a:solidFill>
                  <a:srgbClr val="A90E16"/>
                </a:solidFill>
              </a:rPr>
              <a:t>No artifact, no credit: unsupported claims remain hypotheses in the decision record.</a:t>
            </a:r>
          </a:p>
        </p:txBody>
      </p:sp>
    </p:spTree>
    <p:extLst>
      <p:ext uri="{BB962C8B-B14F-4D97-AF65-F5344CB8AC3E}">
        <p14:creationId xmlns:p14="http://schemas.microsoft.com/office/powerpoint/2010/main" val="176672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719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D525A-71D5-411B-A465-6858ED8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2C4C9-A40A-47B7-8D4C-9845115E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WELLS FARGO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E7DC4-6D2A-4983-AA79-017DB7A7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344"/>
                </a:solidFill>
              </a:defRPr>
            </a:pPr>
            <a:r>
              <a:rPr sz="1425" b="1">
                <a:solidFill>
                  <a:srgbClr val="F6C344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DE7C8-F44B-4CF0-B538-467FAA28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191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Approve the controlled POC.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Hold production until the evidence clears every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D1934-9865-4620-BB49-F9CDFCD1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2226D-7721-4A31-9541-F2B3A75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Funding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7FD80-BA94-494E-A4A4-81173ADE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10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Six weeks • matched GPU capacity • independent validation ownership • vendor artifact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3B603-3B50-47D9-A522-23A7F956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Deliverable: signed model decision record with use-case scope, limits, controls and unit economics.</a:t>
            </a:r>
          </a:p>
        </p:txBody>
      </p:sp>
    </p:spTree>
    <p:extLst>
      <p:ext uri="{BB962C8B-B14F-4D97-AF65-F5344CB8AC3E}">
        <p14:creationId xmlns:p14="http://schemas.microsoft.com/office/powerpoint/2010/main" val="448720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2026-08-12T20:08:44.1400000Z</dcterms:created>
  <dcterms:modified xsi:type="dcterms:W3CDTF">2026-08-12T20:08:44.1400000Z</dcterms:modified>
</coreProperties>
</file>