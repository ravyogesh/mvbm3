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1627632"/>
            <a:ext cx="9509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CD41"/>
                </a:solidFill>
                <a:latin typeface="Arial"/>
              </a:rPr>
              <a:t>WELLS FARGO  ·  GENAI PLATFORM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Arial"/>
              </a:rPr>
              <a:t>Compressed-Model Validation Harness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529584"/>
            <a:ext cx="90525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EEEEEE"/>
                </a:solidFill>
                <a:latin typeface="Arial"/>
              </a:rPr>
              <a:t>Turning a vendor's efficiency and quality claims into evidence a model risk committee will accept — before any model reaches our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846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CD41"/>
                </a:solidFill>
                <a:latin typeface="Arial"/>
              </a:rPr>
              <a:t>3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Arial"/>
              </a:rPr>
              <a:t>measurement suites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19856" y="4846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CD41"/>
                </a:solidFill>
                <a:latin typeface="Arial"/>
              </a:rPr>
              <a:t>12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Arial"/>
              </a:rPr>
              <a:t>task families, twinned safety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1344" y="4846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CD41"/>
                </a:solidFill>
                <a:latin typeface="Arial"/>
              </a:rPr>
              <a:t>10 / 10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Arial"/>
              </a:rPr>
              <a:t>instrument calibration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42832" y="4846320"/>
            <a:ext cx="2606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FFCD41"/>
                </a:solidFill>
                <a:latin typeface="Arial"/>
              </a:rPr>
              <a:t>0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0" i="0">
                <a:solidFill>
                  <a:srgbClr val="EEEEEE"/>
                </a:solidFill>
                <a:latin typeface="Arial"/>
              </a:rPr>
              <a:t>vendor-run numbers accepted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254496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A5A5A"/>
                </a:solidFill>
                <a:latin typeface="Arial"/>
              </a:rPr>
              <a:t>Executive review  ·  August 2026  ·  Internal — pre-decisional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71E28"/>
                </a:solidFill>
                <a:latin typeface="Arial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C1C1C"/>
                </a:solidFill>
                <a:latin typeface="Arial"/>
              </a:rPr>
              <a:t>How a claim becomes evidence</a:t>
            </a:r>
          </a:p>
        </p:txBody>
      </p:sp>
      <p:pic>
        <p:nvPicPr>
          <p:cNvPr id="4" name="Picture 3" descr="architecture-diagram-ba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408176"/>
            <a:ext cx="6071616" cy="48280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14032" y="1408176"/>
            <a:ext cx="4419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71E28"/>
                </a:solidFill>
                <a:latin typeface="Arial"/>
              </a:rPr>
              <a:t>READING THE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4032" y="1755648"/>
            <a:ext cx="44192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1" i="0">
                <a:solidFill>
                  <a:srgbClr val="1C1C1C"/>
                </a:solidFill>
                <a:latin typeface="Arial"/>
              </a:rPr>
              <a:t>Calibration gates everything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Arial"/>
              </a:rPr>
              <a:t>A known fault is injected first. If the harness cannot catch it, nothing below it counts as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4032" y="2798063"/>
            <a:ext cx="44192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1" i="0">
                <a:solidFill>
                  <a:srgbClr val="1C1C1C"/>
                </a:solidFill>
                <a:latin typeface="Arial"/>
              </a:rPr>
              <a:t>One adapter, both models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Arial"/>
              </a:rPr>
              <a:t>Identical prompt, decode settings and seed. The pairing is what makes the comparison valid at 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4032" y="3840479"/>
            <a:ext cx="4419295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50" b="1" i="0">
                <a:solidFill>
                  <a:srgbClr val="1C1C1C"/>
                </a:solidFill>
                <a:latin typeface="Arial"/>
              </a:rPr>
              <a:t>Three suites, one decision</a:t>
            </a:r>
          </a:p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50" b="0" i="0">
                <a:solidFill>
                  <a:srgbClr val="5A5A5A"/>
                </a:solidFill>
                <a:latin typeface="Arial"/>
              </a:rPr>
              <a:t>Correctness, agentic trajectories and throughput converge on a single gate rather than three separate reports.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4937759"/>
            <a:ext cx="441929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71E28"/>
                </a:solidFill>
                <a:latin typeface="Arial"/>
              </a:rPr>
              <a:t>AND THREE POSSIBLE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14032" y="5248655"/>
            <a:ext cx="1298448" cy="246888"/>
          </a:xfrm>
          <a:prstGeom prst="roundRect">
            <a:avLst>
              <a:gd name="adj" fmla="val 50000"/>
            </a:avLst>
          </a:prstGeom>
          <a:solidFill>
            <a:srgbClr val="007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PASS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0496" y="5285231"/>
            <a:ext cx="2992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margin cleared, adequately powered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14032" y="5596127"/>
            <a:ext cx="1298448" cy="246888"/>
          </a:xfrm>
          <a:prstGeom prst="roundRect">
            <a:avLst>
              <a:gd name="adj" fmla="val 50000"/>
            </a:avLst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0496" y="5632703"/>
            <a:ext cx="2992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past the margin, or a floor broken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14032" y="5943599"/>
            <a:ext cx="1298448" cy="246888"/>
          </a:xfrm>
          <a:prstGeom prst="roundRect">
            <a:avLst>
              <a:gd name="adj" fmla="val 50000"/>
            </a:avLst>
          </a:prstGeom>
          <a:solidFill>
            <a:srgbClr val="B3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rial"/>
              </a:rPr>
              <a:t>INCONCLUSIVE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0496" y="5980175"/>
            <a:ext cx="29928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5A5A"/>
                </a:solidFill>
                <a:latin typeface="Arial"/>
              </a:rPr>
              <a:t>not a soft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008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A5A5A"/>
                </a:solidFill>
                <a:latin typeface="Arial"/>
              </a:rPr>
              <a:t>Interactive version: docs/architecture-diagram.html  ·  github.com/RavYogesh/mvbm3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D71E28"/>
                </a:solidFill>
                <a:latin typeface="Arial"/>
              </a:rPr>
              <a:t>WHY IT IS DIFFERENT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C1C1C"/>
                </a:solidFill>
                <a:latin typeface="Arial"/>
              </a:rPr>
              <a:t>Four decisions that carry the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5A5A5A"/>
                </a:solidFill>
                <a:latin typeface="Arial"/>
              </a:rPr>
              <a:t>Each one closes a specific way a compression pitch survives an evaluation it should have failed.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883664"/>
            <a:ext cx="5254599" cy="14630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2139696"/>
            <a:ext cx="475488" cy="475488"/>
          </a:xfrm>
          <a:prstGeom prst="ellipse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17904" y="2066544"/>
            <a:ext cx="41573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C1C1C"/>
                </a:solidFill>
                <a:latin typeface="Arial"/>
              </a:rPr>
              <a:t>Non-inferiority, not averages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The vendor carries the burden of proof: we assume the model IS worse until a confidence bound says otherwise. Margins are fixed before the run, so nobody can pick the threshold after seeing the result.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1883664"/>
            <a:ext cx="5254599" cy="14630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79895" y="2139696"/>
            <a:ext cx="475488" cy="475488"/>
          </a:xfrm>
          <a:prstGeom prst="ellipse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8263" y="2066544"/>
            <a:ext cx="41573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C1C1C"/>
                </a:solidFill>
                <a:latin typeface="Arial"/>
              </a:rPr>
              <a:t>Cost per completed task, never per token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Reasoning tokens are billed output and run near 70% of it. A model 40% cheaper per token that thinks longer and retries more is more expensive in production while winning every vendor benchmark.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511296"/>
            <a:ext cx="5254599" cy="14630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9536" y="3767328"/>
            <a:ext cx="475488" cy="475488"/>
          </a:xfrm>
          <a:prstGeom prst="ellipse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17904" y="3694176"/>
            <a:ext cx="41573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C1C1C"/>
                </a:solidFill>
                <a:latin typeface="Arial"/>
              </a:rPr>
              <a:t>Controls in code, not in the prompt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A prompt is a request; a gate is an auditable control. Blocked attempts are recorded, so the report states that the model attempted an unauthorised money movement N times and the control held N times.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8727" y="3511296"/>
            <a:ext cx="5254599" cy="1463040"/>
          </a:xfrm>
          <a:prstGeom prst="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79895" y="3767328"/>
            <a:ext cx="475488" cy="475488"/>
          </a:xfrm>
          <a:prstGeom prst="ellipse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8263" y="3694176"/>
            <a:ext cx="415731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 i="0">
                <a:solidFill>
                  <a:srgbClr val="1C1C1C"/>
                </a:solidFill>
                <a:latin typeface="Arial"/>
              </a:rPr>
              <a:t>An answer for “we could not tell”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5A5A5A"/>
                </a:solidFill>
                <a:latin typeface="Arial"/>
              </a:rPr>
              <a:t>A small study that finds no difference reads as a pass. That is the mechanism by which a degraded model gets onboarded, so the harness refuses to claim a pass it cannot defend and prints the sample size it would need.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534009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1" i="0">
                <a:solidFill>
                  <a:srgbClr val="D71E28"/>
                </a:solidFill>
                <a:latin typeface="Arial"/>
              </a:rPr>
              <a:t>Together these change the question from “did it score well?” to “would we have found out if it had not?” — which is the only version a model risk reviewer can sign.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0A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CD41"/>
                </a:solidFill>
                <a:latin typeface="Arial"/>
              </a:rPr>
              <a:t>STATUS AND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76656"/>
            <a:ext cx="108749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rial"/>
              </a:rPr>
              <a:t>Built, tested, and calibrated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874959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EEEEEE"/>
                </a:solidFill>
                <a:latin typeface="Arial"/>
              </a:rPr>
              <a:t>Running today against a simulated backend. Producing evidence needs access and capacity, not more engineering.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83664"/>
            <a:ext cx="5760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CD41"/>
                </a:solidFill>
                <a:latin typeface="Arial"/>
              </a:rPr>
              <a:t>WHAT IT ALREADY CAUGHT — IN ITS OWN FIRST 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212848"/>
            <a:ext cx="57607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150" b="0" i="0">
                <a:solidFill>
                  <a:srgbClr val="EEEEEE"/>
                </a:solidFill>
                <a:latin typeface="Arial"/>
              </a:rPr>
              <a:t>—  A grader read the first number in a response, so any model that showed its work scored zero on correct answers.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150" b="0" i="0">
                <a:solidFill>
                  <a:srgbClr val="EEEEEE"/>
                </a:solidFill>
                <a:latin typeface="Arial"/>
              </a:rPr>
              <a:t>—  Throughput used the wrong denominator, measuring one user's experience rather than what the fleet delivers.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150" b="0" i="0">
                <a:solidFill>
                  <a:srgbClr val="EEEEEE"/>
                </a:solidFill>
                <a:latin typeface="Arial"/>
              </a:rPr>
              <a:t>—  Reasoning tokens went uncounted, understating the cost of whichever model thinks longer.</a:t>
            </a:r>
          </a:p>
          <a:p>
            <a:pPr algn="l">
              <a:lnSpc>
                <a:spcPct val="124000"/>
              </a:lnSpc>
              <a:spcAft>
                <a:spcPts val="1100"/>
              </a:spcAft>
            </a:pPr>
            <a:r>
              <a:rPr sz="1150" b="0" i="0">
                <a:solidFill>
                  <a:srgbClr val="EEEEEE"/>
                </a:solidFill>
                <a:latin typeface="Arial"/>
              </a:rPr>
              <a:t>—  Refusal was scored one-sided, so a model that refuses everything passed the strictest safety gate.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883664"/>
            <a:ext cx="39684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CD41"/>
                </a:solidFill>
                <a:latin typeface="Arial"/>
              </a:rPr>
              <a:t>THE ONE CONSTRAINT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12848"/>
            <a:ext cx="3968496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Arial"/>
              </a:rPr>
              <a:t>66 cases cannot validate a 1-point claim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150" b="0" i="0">
                <a:solidFill>
                  <a:srgbClr val="EEEEEE"/>
                </a:solidFill>
                <a:latin typeface="Arial"/>
              </a:rPr>
              <a:t>That margin needs roughly 9,300 paired cases. It is arithmetic, not effort. Tightening the regulated margin raises the case count about ninefold — a risk-appetite call, not an engineering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4498848"/>
            <a:ext cx="10874959" cy="41148"/>
          </a:xfrm>
          <a:prstGeom prst="rect">
            <a:avLst/>
          </a:prstGeom>
          <a:solidFill>
            <a:srgbClr val="D71E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73152" bIns="7315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475488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FFCD41"/>
                </a:solidFill>
                <a:latin typeface="Arial"/>
              </a:rPr>
              <a:t>THE 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138928"/>
            <a:ext cx="344210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300" b="1" i="0">
                <a:solidFill>
                  <a:srgbClr val="FFCD41"/>
                </a:solidFill>
                <a:latin typeface="Arial"/>
              </a:rPr>
              <a:t>Two self-hosted endpoints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EEEEE"/>
                </a:solidFill>
                <a:latin typeface="Arial"/>
              </a:rPr>
              <a:t>Each candidate precision as a separate artefact, plus both uncompressed parents as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5138928"/>
            <a:ext cx="344210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300" b="1" i="0">
                <a:solidFill>
                  <a:srgbClr val="FFCD41"/>
                </a:solidFill>
                <a:latin typeface="Arial"/>
              </a:rPr>
              <a:t>GPU capacity for full-scale runs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EEEEE"/>
                </a:solidFill>
                <a:latin typeface="Arial"/>
              </a:rPr>
              <a:t>Screening is cheap. The regulated families are where the real capacity goes.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1220" y="5138928"/>
            <a:ext cx="344210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300" b="1" i="0">
                <a:solidFill>
                  <a:srgbClr val="FFCD41"/>
                </a:solidFill>
                <a:latin typeface="Arial"/>
              </a:rPr>
              <a:t>A decision on the regulated margin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1100" b="0" i="0">
                <a:solidFill>
                  <a:srgbClr val="EEEEEE"/>
                </a:solidFill>
                <a:latin typeface="Arial"/>
              </a:rPr>
              <a:t>How much quality loss is acceptable on a path that feeds a customer decision.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400800"/>
            <a:ext cx="108749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EEEEEE"/>
                </a:solidFill>
                <a:latin typeface="Arial"/>
              </a:rPr>
              <a:t>29 unit tests and 10 calibration checks passing  ·  github.com/RavYogesh/mvbm3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